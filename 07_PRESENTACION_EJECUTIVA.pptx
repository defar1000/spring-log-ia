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OPCIÓN DE 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51560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SpringLog-IA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97840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100" b="0">
                <a:solidFill>
                  <a:srgbClr val="EAF2F8"/>
                </a:solidFill>
                <a:latin typeface="Aptos"/>
              </a:defRPr>
            </a:pPr>
            <a:r>
              <a:t>Clasificación asistida de severidad de logs backend en Java / Spring Boot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13632"/>
            <a:ext cx="2011680" cy="6400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15968"/>
            <a:ext cx="7315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David Felipe Rios Echeverri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EAF2F8"/>
                </a:solidFill>
                <a:latin typeface="Aptos"/>
              </a:defRPr>
            </a:pPr>
            <a:r>
              <a:t>Desarrollo Backend / Ingeniería de Software  •  Octubre de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9144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0">
                <a:solidFill>
                  <a:srgbClr val="EAF2F8"/>
                </a:solidFill>
                <a:latin typeface="Aptos"/>
              </a:defRPr>
            </a:pPr>
            <a:r>
              <a:t>Proyecto integrado con datos sintéticos, validación reproducible y supervisión humana.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Resumen ejecutivo: qué se construyó y qué demuestra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560320" cy="123444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09928"/>
            <a:ext cx="234086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93 %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21992"/>
            <a:ext cx="2340863" cy="521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Accuracy en 100 registros de prueba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00200"/>
            <a:ext cx="2560320" cy="123444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709928"/>
            <a:ext cx="234086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0,933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221992"/>
            <a:ext cx="2340863" cy="521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F1 macro del Random Forest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00200"/>
            <a:ext cx="2560320" cy="123444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709928"/>
            <a:ext cx="234086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D95D39"/>
                </a:solidFill>
                <a:latin typeface="Aptos Display"/>
              </a:defRPr>
            </a:pPr>
            <a:r>
              <a:t>5/5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221992"/>
            <a:ext cx="2340863" cy="521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CRITICAL detectados en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600200"/>
            <a:ext cx="2560320" cy="123444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E0A1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7" y="1709928"/>
            <a:ext cx="234086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E0A126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7" y="2221992"/>
            <a:ext cx="2340863" cy="5212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WARN clasificados como INFO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46120"/>
            <a:ext cx="10789920" cy="237744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Pipeline local: sanitización basada en reglas → TF-IDF → Random Forest.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La evaluación se hizo con un split estratificado 80/20 y semilla fija.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El dataset sintético es útil para demostrar el flujo, pero no acredita calidad de producción.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El siguiente hito es validar en plantillas nuevas y con revisión de especialistas.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Problema: encontrar la señal entre miles de eventos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F8B8D"/>
                </a:solidFill>
                <a:latin typeface="Aptos"/>
              </a:defRPr>
            </a:pPr>
            <a:r>
              <a:t>SITUACIÓN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892040" cy="338328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Logs estructurados y mensajes no estructurados se mezclan.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El análisis manual de stack traces ralentiza la priorización.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WARN puede competir por atención con eventos rutinarios.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Los filtros por palabras clave no siempre captan el contexto.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754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0F8B8D"/>
                </a:solidFill>
                <a:latin typeface="Aptos"/>
              </a:defRPr>
            </a:pPr>
            <a:r>
              <a:t>NECESIDAD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00600" cy="338328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Clasificar severidad como ayuda al analista.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Sanitizar información sensible antes de procesarla.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Priorizar señales críticas sin eliminar la supervisión humana.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Medir resultados con un conjunto de prueba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Separar el punto de partida de los resultados medidos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54480"/>
          <a:ext cx="107899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206240"/>
              </a:tblGrid>
              <a:tr h="5943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Afirmación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Tipo de evidencia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Estado en este proyecto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MTTR inicial de 45 min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Hipótesis inicial del proyecto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No medido en producción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Reducción del MTTR a 10 min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Escenario de beneficio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Pendiente de piloto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Accuracy 93 %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Prueba sintética reservada n=100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Medido en el split actual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Recall CRITICAL 100 %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5 de 5 casos en test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Medido; soporte pequeño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P95 inferencia 23.6 ms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Medición local sobre 30 registros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Dependiente del entorno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16324F"/>
                </a:solidFill>
                <a:latin typeface="Aptos"/>
              </a:defRPr>
            </a:pPr>
            <a:r>
              <a:t>Regla de comunicación: no presentar estimaciones económicas o hipótesis operativas como resultados experimentales.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Datos: una muestra sintética de cinco días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286000" cy="105156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18488"/>
            <a:ext cx="206654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30552"/>
            <a:ext cx="2066543" cy="338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registros; 8 campos originales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508760"/>
            <a:ext cx="2286000" cy="105156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618488"/>
            <a:ext cx="206654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130552"/>
            <a:ext cx="2066543" cy="338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instancias del microservicio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508760"/>
            <a:ext cx="2286000" cy="105156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79008" y="1618488"/>
            <a:ext cx="206654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2130552"/>
            <a:ext cx="2066543" cy="338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duplicados exactos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08760"/>
            <a:ext cx="3017520" cy="105156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18488"/>
            <a:ext cx="279806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389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130552"/>
            <a:ext cx="2798063" cy="338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marcadores None normalizados</a:t>
            </a:r>
          </a:p>
        </p:txBody>
      </p:sp>
      <p:pic>
        <p:nvPicPr>
          <p:cNvPr id="20" name="Picture 19" descr="eda_sever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5257800" cy="28384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2834640"/>
            <a:ext cx="4572000" cy="256032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INFO: 60 %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WARN: 20 %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ERROR: 15 %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CRITICAL: 5 %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Proporciones fijadas al generar la muestra.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EDA: variación entre instancias y tipos de excepción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8" name="Picture 7" descr="eda_insta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5577840" cy="2933505"/>
          </a:xfrm>
          <a:prstGeom prst="rect">
            <a:avLst/>
          </a:prstGeom>
        </p:spPr>
      </p:pic>
      <p:pic>
        <p:nvPicPr>
          <p:cNvPr id="9" name="Picture 8" descr="eda_excep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303520" cy="29549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57784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5B6573"/>
                </a:solidFill>
                <a:latin typeface="Aptos"/>
              </a:defRPr>
            </a:pPr>
            <a:r>
              <a:t>instance-prod-west-01 tiene el mayor volumen de muestra (193) y 13 registros CRITICAL; estos conteos no reflejan una infraestructura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Propuesta técnica: pipeline local de clasificación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201168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4028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F8B8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33472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6324F"/>
                </a:solidFill>
                <a:latin typeface="Aptos"/>
              </a:defRPr>
            </a:pPr>
            <a:r>
              <a:t>Ingesta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063240"/>
            <a:ext cx="178308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243447"/>
                </a:solidFill>
                <a:latin typeface="Aptos"/>
              </a:defRPr>
            </a:pPr>
            <a:r>
              <a:t>CSV y contexto JVM</a:t>
            </a:r>
          </a:p>
        </p:txBody>
      </p:sp>
      <p:sp>
        <p:nvSpPr>
          <p:cNvPr id="12" name="Chevron 11"/>
          <p:cNvSpPr/>
          <p:nvPr/>
        </p:nvSpPr>
        <p:spPr>
          <a:xfrm>
            <a:off x="2633472" y="2670048"/>
            <a:ext cx="256032" cy="41148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79" y="2057400"/>
            <a:ext cx="201168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24028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F8B8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633472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6324F"/>
                </a:solidFill>
                <a:latin typeface="Aptos"/>
              </a:defRPr>
            </a:pPr>
            <a:r>
              <a:t>Sanitización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063240"/>
            <a:ext cx="178308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243447"/>
                </a:solidFill>
                <a:latin typeface="Aptos"/>
              </a:defRPr>
            </a:pPr>
            <a:r>
              <a:t>Regex: secretos, IDs, correos</a:t>
            </a:r>
          </a:p>
        </p:txBody>
      </p:sp>
      <p:sp>
        <p:nvSpPr>
          <p:cNvPr id="17" name="Chevron 16"/>
          <p:cNvSpPr/>
          <p:nvPr/>
        </p:nvSpPr>
        <p:spPr>
          <a:xfrm>
            <a:off x="4965192" y="2670048"/>
            <a:ext cx="256032" cy="41148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2057400"/>
            <a:ext cx="201168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224028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F8B8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633472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6324F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7528" y="3063240"/>
            <a:ext cx="178308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243447"/>
                </a:solidFill>
                <a:latin typeface="Aptos"/>
              </a:defRPr>
            </a:pPr>
            <a:r>
              <a:t>Unigramas + bigramas</a:t>
            </a:r>
          </a:p>
        </p:txBody>
      </p:sp>
      <p:sp>
        <p:nvSpPr>
          <p:cNvPr id="22" name="Chevron 21"/>
          <p:cNvSpPr/>
          <p:nvPr/>
        </p:nvSpPr>
        <p:spPr>
          <a:xfrm>
            <a:off x="7296912" y="2670048"/>
            <a:ext cx="256032" cy="41148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19" y="2057400"/>
            <a:ext cx="201168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9247" y="224028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F8B8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7" y="2633472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6324F"/>
                </a:solidFill>
                <a:latin typeface="Aptos"/>
              </a:defRPr>
            </a:pPr>
            <a:r>
              <a:t>Clasificador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7" y="3063240"/>
            <a:ext cx="178308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243447"/>
                </a:solidFill>
                <a:latin typeface="Aptos"/>
              </a:defRPr>
            </a:pPr>
            <a:r>
              <a:t>Random Forest · 100 árboles</a:t>
            </a:r>
          </a:p>
        </p:txBody>
      </p:sp>
      <p:sp>
        <p:nvSpPr>
          <p:cNvPr id="27" name="Chevron 26"/>
          <p:cNvSpPr/>
          <p:nvPr/>
        </p:nvSpPr>
        <p:spPr>
          <a:xfrm>
            <a:off x="9628632" y="2670048"/>
            <a:ext cx="256032" cy="411480"/>
          </a:xfrm>
          <a:prstGeom prst="chevron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2057400"/>
            <a:ext cx="2011680" cy="1828800"/>
          </a:xfrm>
          <a:prstGeom prst="roundRect">
            <a:avLst/>
          </a:prstGeom>
          <a:solidFill>
            <a:srgbClr val="EAF2F8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2240280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0F8B8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633472"/>
            <a:ext cx="1783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6324F"/>
                </a:solidFill>
                <a:latin typeface="Aptos"/>
              </a:defRPr>
            </a:pPr>
            <a:r>
              <a:t>Revisión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7" y="3063240"/>
            <a:ext cx="1783080" cy="6583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0">
                <a:solidFill>
                  <a:srgbClr val="243447"/>
                </a:solidFill>
                <a:latin typeface="Aptos"/>
              </a:defRPr>
            </a:pPr>
            <a:r>
              <a:t>Etiqueta y confianza para analista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572000"/>
            <a:ext cx="104241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16324F"/>
                </a:solidFill>
                <a:latin typeface="Aptos"/>
              </a:defRPr>
            </a:pPr>
            <a:r>
              <a:t>El prototipo clasifica severidad. No ejecuta remediaciones, no establece causa raíz y todavía no se conecta en tiempo real a Logback/Log4j2.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IA generativa: utilidad exploratoria y límites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087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566160"/>
              </a:tblGrid>
              <a:tr h="8046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Flujo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Uso esperado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Extracción JSON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Normalizar campos y resumir una línea.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Diagnóstico asistido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Separar hechos, hipótesis y comprobaciones.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Sanitización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Proponer/validar enmascaramiento; no único control.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Resumen operativo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Contar severidades y describir patrones con cautela.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1737360"/>
            <a:ext cx="4572000" cy="329184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3447"/>
                </a:solidFill>
                <a:latin typeface="Aptos"/>
              </a:defRPr>
            </a:pPr>
            <a:r>
              <a:t>•  Una salida plausible no demuestra causa raíz.</a:t>
            </a:r>
          </a:p>
          <a:p>
            <a:pPr>
              <a:spcAft>
                <a:spcPts val="700"/>
              </a:spcAft>
              <a:defRPr sz="1400">
                <a:solidFill>
                  <a:srgbClr val="243447"/>
                </a:solidFill>
                <a:latin typeface="Aptos"/>
              </a:defRPr>
            </a:pPr>
            <a:r>
              <a:t>•  La sanitización debe ser determinista antes de una API externa.</a:t>
            </a:r>
          </a:p>
          <a:p>
            <a:pPr>
              <a:spcAft>
                <a:spcPts val="700"/>
              </a:spcAft>
              <a:defRPr sz="1400">
                <a:solidFill>
                  <a:srgbClr val="243447"/>
                </a:solidFill>
                <a:latin typeface="Aptos"/>
              </a:defRPr>
            </a:pPr>
            <a:r>
              <a:t>•  El costo y la latencia dependen del volumen y del modelo.</a:t>
            </a:r>
          </a:p>
          <a:p>
            <a:pPr>
              <a:spcAft>
                <a:spcPts val="700"/>
              </a:spcAft>
              <a:defRPr sz="1400">
                <a:solidFill>
                  <a:srgbClr val="243447"/>
                </a:solidFill>
                <a:latin typeface="Aptos"/>
              </a:defRPr>
            </a:pPr>
            <a:r>
              <a:t>•  Versionar prompts y guardar casos de prueba.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Modelo: entrenamiento y evaluación reproducibles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2286000" cy="109728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664207"/>
            <a:ext cx="206654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76272"/>
            <a:ext cx="2066543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registros entrenamiento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554480"/>
            <a:ext cx="2286000" cy="109728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664207"/>
            <a:ext cx="206654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176272"/>
            <a:ext cx="2066543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registros prueba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554480"/>
            <a:ext cx="2286000" cy="109728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4728" y="1664207"/>
            <a:ext cx="206654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1.000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2176272"/>
            <a:ext cx="2066543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máx. características TF-IDF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554480"/>
            <a:ext cx="2926080" cy="109728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1664207"/>
            <a:ext cx="2706624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7" y="2176272"/>
            <a:ext cx="2706624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semilla de partición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10241280" cy="219456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TF-IDF, n-gramas 1–2, sublinear_tf=True.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Random Forest: 100 árboles y class_weight=balanced.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Se compararon también Regresión logística, Naive Bayes y Árbol de decisión.</a:t>
            </a:r>
          </a:p>
          <a:p>
            <a:pPr>
              <a:spcAft>
                <a:spcPts val="700"/>
              </a:spcAft>
              <a:defRPr sz="1500">
                <a:solidFill>
                  <a:srgbClr val="243447"/>
                </a:solidFill>
                <a:latin typeface="Aptos"/>
              </a:defRPr>
            </a:pPr>
            <a:r>
              <a:t>•  El pipeline y sus métricas se guardan para reproducir la evaluación.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Comparación: los modelos simples también puntúan alto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8" name="Picture 7" descr="modelo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492240" cy="346081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1737360"/>
          <a:ext cx="4114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960120"/>
                <a:gridCol w="1005840"/>
              </a:tblGrid>
              <a:tr h="67665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Modelo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 macro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93 %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0,933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Regresión logística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100 %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Naive Bayes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100 %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1,000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Árbol de decisión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98 %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0,983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60920" y="5349240"/>
            <a:ext cx="3977639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D95D39"/>
                </a:solidFill>
                <a:latin typeface="Aptos"/>
              </a:defRPr>
            </a:pPr>
            <a:r>
              <a:t>Las puntuaciones perfectas sugieren patrones sintéticos demasiado separables; requieren validación con plantillas nuevas.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Resultado del Random Forest y principal caso borde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8" name="Picture 7" descr="modelo_matriz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120640" cy="43408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645920"/>
            <a:ext cx="2011680" cy="109728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755648"/>
            <a:ext cx="1792224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D95D39"/>
                </a:solidFill>
                <a:latin typeface="Aptos Display"/>
              </a:defRPr>
            </a:pPr>
            <a:r>
              <a:t>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267712"/>
            <a:ext cx="1792224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CRITICAL correctos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645920"/>
            <a:ext cx="2286000" cy="109728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D95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1755648"/>
            <a:ext cx="2066543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D95D39"/>
                </a:solidFill>
                <a:latin typeface="Aptos Display"/>
              </a:defRPr>
            </a:pPr>
            <a:r>
              <a:t>15/15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2267712"/>
            <a:ext cx="2066543" cy="38404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ERROR correctos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54680"/>
            <a:ext cx="4572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700" b="1">
                <a:solidFill>
                  <a:srgbClr val="16324F"/>
                </a:solidFill>
                <a:latin typeface="Aptos"/>
              </a:defRPr>
            </a:pPr>
            <a:r>
              <a:t>WARN: 13/20 detectados (65 % recall)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703320"/>
            <a:ext cx="4754880" cy="173736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3447"/>
                </a:solidFill>
                <a:latin typeface="Aptos"/>
              </a:defRPr>
            </a:pPr>
            <a:r>
              <a:t>•  7 WARN se clasificaron como INFO.</a:t>
            </a:r>
          </a:p>
          <a:p>
            <a:pPr>
              <a:spcAft>
                <a:spcPts val="700"/>
              </a:spcAft>
              <a:defRPr sz="1200">
                <a:solidFill>
                  <a:srgbClr val="243447"/>
                </a:solidFill>
                <a:latin typeface="Aptos"/>
              </a:defRPr>
            </a:pPr>
            <a:r>
              <a:t>•  Explorar durationMs, estado HTTP y reintentos como variables estructuradas.</a:t>
            </a:r>
          </a:p>
          <a:p>
            <a:pPr>
              <a:spcAft>
                <a:spcPts val="700"/>
              </a:spcAft>
              <a:defRPr sz="1200">
                <a:solidFill>
                  <a:srgbClr val="243447"/>
                </a:solidFill>
                <a:latin typeface="Aptos"/>
              </a:defRPr>
            </a:pPr>
            <a:r>
              <a:t>•  El test tiene solo 5 casos CRITICAL.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Gobernanza: privacidad, sesgo y supervisión humana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508760"/>
          <a:ext cx="10835638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977639"/>
                <a:gridCol w="4983480"/>
              </a:tblGrid>
              <a:tr h="685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Qué se hace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Qué falta</a:t>
                      </a:r>
                    </a:p>
                  </a:txBody>
                  <a:tcPr marL="54864" marR="54864" marT="36576" marB="36576">
                    <a:solidFill>
                      <a:srgbClr val="16324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Privacidad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Regex para secretos/tokens, correos, IDs y PAN.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Pruebas con variantes y revisión de seguridad.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Supervisión humana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Modelo recomendado, no autónomo.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Procedimiento formal de revisión y rollback.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Sesgo de clase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Class_weight=balanced y F1 macro.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Más ejemplos CRITICAL y validación externa.</a:t>
                      </a:r>
                    </a:p>
                  </a:txBody>
                  <a:tcPr marL="54864" marR="54864" marT="36576" marB="36576">
                    <a:solidFill>
                      <a:srgbClr val="EAF2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Explicabilidad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Conservar texto sanitizado y clase predicha.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43447"/>
                          </a:solidFill>
                          <a:latin typeface="Aptos"/>
                        </a:defRPr>
                      </a:pPr>
                      <a:r>
                        <a:t>Documentar versión, características y razones de alerta.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303520"/>
            <a:ext cx="101498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D95D39"/>
                </a:solidFill>
                <a:latin typeface="Aptos"/>
              </a:defRPr>
            </a:pPr>
            <a:r>
              <a:t>No se afirma cumplimiento legal certificado ni detección total de secretos mediante Regex.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Viabilidad: escenario económico basado en supuestos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64207"/>
            <a:ext cx="2249424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USD 4.033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176272"/>
            <a:ext cx="224942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ahorro mensual neto estimado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554480"/>
            <a:ext cx="2468880" cy="118872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1664207"/>
            <a:ext cx="2249424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USD 46.900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176272"/>
            <a:ext cx="224942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beneficio año 1 tras inversión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54480"/>
            <a:ext cx="2468880" cy="118872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664207"/>
            <a:ext cx="2249424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3.127 %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176272"/>
            <a:ext cx="224942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ROI simple del primer año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554480"/>
            <a:ext cx="2468880" cy="1188720"/>
          </a:xfrm>
          <a:prstGeom prst="roundRect">
            <a:avLst/>
          </a:prstGeom>
          <a:solidFill>
            <a:srgbClr val="EAF2F8"/>
          </a:solidFill>
          <a:ln w="17780"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33688" y="1664207"/>
            <a:ext cx="2249424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0F8B8D"/>
                </a:solidFill>
                <a:latin typeface="Aptos Display"/>
              </a:defRPr>
            </a:pPr>
            <a:r>
              <a:t>11,2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2176272"/>
            <a:ext cx="2249424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243447"/>
                </a:solidFill>
                <a:latin typeface="Aptos"/>
              </a:defRPr>
            </a:pPr>
            <a:r>
              <a:t>payback teórico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37560"/>
            <a:ext cx="10241280" cy="228600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3447"/>
                </a:solidFill>
                <a:latin typeface="Aptos"/>
              </a:defRPr>
            </a:pPr>
            <a:r>
              <a:t>•  Supuestos: 5 desarrolladores, 40 incidentes/mes/persona, 35 min recuperados por incidente y USD 35/h.</a:t>
            </a:r>
          </a:p>
          <a:p>
            <a:pPr>
              <a:spcAft>
                <a:spcPts val="700"/>
              </a:spcAft>
              <a:defRPr sz="1400">
                <a:solidFill>
                  <a:srgbClr val="243447"/>
                </a:solidFill>
                <a:latin typeface="Aptos"/>
              </a:defRPr>
            </a:pPr>
            <a:r>
              <a:t>•  Costo operativo supuesto: USD 50/mes; inversión inicial: USD 1.500.</a:t>
            </a:r>
          </a:p>
          <a:p>
            <a:pPr>
              <a:spcAft>
                <a:spcPts val="700"/>
              </a:spcAft>
              <a:defRPr sz="1400">
                <a:solidFill>
                  <a:srgbClr val="243447"/>
                </a:solidFill>
                <a:latin typeface="Aptos"/>
              </a:defRPr>
            </a:pPr>
            <a:r>
              <a:t>•  MTTR y ahorro de tiempo no se han medido; validar con piloto antes de usar estas cifras como caso de negocio.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Hoja de ruta: de demostración a piloto controlado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527048"/>
            <a:ext cx="502920" cy="5029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481328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Fase 1 — Validación offline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481328"/>
            <a:ext cx="7132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43447"/>
                </a:solidFill>
                <a:latin typeface="Aptos"/>
              </a:defRPr>
            </a:pPr>
            <a:r>
              <a:t>Etiquetas revisadas, plantillas nuevas, métricas por clase.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642615"/>
            <a:ext cx="502920" cy="5029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15768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96896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Fase 2 — Modo sombra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96896"/>
            <a:ext cx="7132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43447"/>
                </a:solidFill>
                <a:latin typeface="Aptos"/>
              </a:defRPr>
            </a:pPr>
            <a:r>
              <a:t>Comparar recomendaciones con el flujo de SRE sin activar alertas.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758184"/>
            <a:ext cx="502920" cy="5029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31336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712464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Fase 3 — Integración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712464"/>
            <a:ext cx="7132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43447"/>
                </a:solidFill>
                <a:latin typeface="Aptos"/>
              </a:defRPr>
            </a:pPr>
            <a:r>
              <a:t>Métricas, trazabilidad de versión, umbrales y fallback.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873752"/>
            <a:ext cx="502920" cy="502920"/>
          </a:xfrm>
          <a:prstGeom prst="ellipse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946904"/>
            <a:ext cx="41148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28032"/>
            <a:ext cx="2011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  <a:latin typeface="Aptos"/>
              </a:defRPr>
            </a:pPr>
            <a:r>
              <a:t>Fase 4 — 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828032"/>
            <a:ext cx="71323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243447"/>
                </a:solidFill>
                <a:latin typeface="Aptos"/>
              </a:defRPr>
            </a:pPr>
            <a:r>
              <a:t>Medir MTTR, falsos negativos, costo y seguridad para decidir adopción.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0F8B8D"/>
                </a:solidFill>
                <a:latin typeface="Aptos"/>
              </a:defRPr>
            </a:pPr>
            <a:r>
              <a:t>DIPLOMADO EN INTELIGENCIA ARTIFICIAL  |  PROYECTO FINAL INTEGRADO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155680" cy="4846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500" b="1">
                <a:solidFill>
                  <a:srgbClr val="16324F"/>
                </a:solidFill>
                <a:latin typeface="Aptos Display"/>
              </a:defRPr>
            </a:pPr>
            <a:r>
              <a:t>Conclusiones: prototipo útil, validación pendiente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14400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800" b="0">
                <a:solidFill>
                  <a:srgbClr val="5B6573"/>
                </a:solidFill>
                <a:latin typeface="Aptos"/>
              </a:defRPr>
            </a:pPr>
            <a:r>
              <a:t>SPRINGLOG-IA  |  Observabilidad asistida de logs Spring Boot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548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800" b="1">
                <a:solidFill>
                  <a:srgbClr val="5B657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10424160" cy="3383280"/>
          </a:xfrm>
          <a:prstGeom prst="rect">
            <a:avLst/>
          </a:prstGeom>
          <a:noFill/>
        </p:spPr>
        <p:txBody>
          <a:bodyPr wrap="square" lIns="109728" rIns="109728" tIns="91440" bIns="9144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•  SpringLog-IA demuestra un flujo reproducible de clasificación textual de severidad para payment-service sintético.</a:t>
            </a:r>
          </a:p>
          <a:p>
            <a:pPr>
              <a:spcAft>
                <a:spcPts val="7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•  Random Forest consigue 93 % de accuracy y 0,933 de F1 macro en la partición usada; la clase WARN es el principal punto de mejora.</a:t>
            </a:r>
          </a:p>
          <a:p>
            <a:pPr>
              <a:spcAft>
                <a:spcPts val="7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•  Los resultados del dataset no bastan para asegurar generalización ni reducción del MTTR real.</a:t>
            </a:r>
          </a:p>
          <a:p>
            <a:pPr>
              <a:spcAft>
                <a:spcPts val="700"/>
              </a:spcAft>
              <a:defRPr sz="1600">
                <a:solidFill>
                  <a:srgbClr val="243447"/>
                </a:solidFill>
                <a:latin typeface="Aptos"/>
              </a:defRPr>
            </a:pPr>
            <a:r>
              <a:t>•  El siguiente paso clave es validar con plantillas nuevas, revisión de especialistas y piloto de modo sombra.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300" b="1">
                <a:solidFill>
                  <a:srgbClr val="0F8B8D"/>
                </a:solidFill>
                <a:latin typeface="Aptos"/>
              </a:defRPr>
            </a:pPr>
            <a: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